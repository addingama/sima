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394960"/>
            <a:ext cx="12191695" cy="1463040"/>
          </a:xfrm>
          <a:prstGeom prst="rect">
            <a:avLst/>
          </a:prstGeom>
          <a:solidFill>
            <a:srgbClr val="0D7A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10515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5400" b="1">
                <a:solidFill>
                  <a:srgbClr val="FFFFFF"/>
                </a:solidFill>
                <a:latin typeface="Calibri"/>
              </a:rPr>
              <a:t>SIMA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92608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0">
                <a:solidFill>
                  <a:srgbClr val="FFFFFF"/>
                </a:solidFill>
                <a:latin typeface="Calibri"/>
              </a:rPr>
              <a:t>Sistem Informasi Manajemen Amanah</a:t>
            </a:r>
          </a:p>
          <a:p>
            <a:r>
              <a:rPr sz="1600" b="0">
                <a:solidFill>
                  <a:srgbClr val="CBD5E1"/>
                </a:solidFill>
                <a:latin typeface="Calibri"/>
              </a:rPr>
              <a:t>Kelola dana titipan dengan amanah: setiap uang masuk punya tujuan,</a:t>
            </a:r>
            <a:br/>
            <a:r>
              <a:t>dan setiap pengeluaran mengambil dari dana yang sesuai.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71500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FFFFFF"/>
                </a:solidFill>
                <a:latin typeface="Calibri"/>
              </a:rPr>
              <a:t>Materi demonstrasi produk  ·  untuk pimpinan, bendahara, dan tim IT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D7A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0F2C4C"/>
                </a:solidFill>
                <a:latin typeface="Calibri"/>
              </a:rPr>
              <a:t>Agenda (15–20 menit)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97280"/>
            <a:ext cx="107899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0">
                <a:solidFill>
                  <a:srgbClr val="334155"/>
                </a:solidFill>
                <a:latin typeface="Calibri"/>
              </a:rPr>
              <a:t>1. Masalah lembaga sosial: dana titipan mudah “tercecer” antar tujuan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334155"/>
                </a:solidFill>
                <a:latin typeface="Calibri"/>
              </a:rPr>
              <a:t>2. Konsep SIMA: Kas/Bank vs Dana Amanah + Amanah Ledger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334155"/>
                </a:solidFill>
                <a:latin typeface="Calibri"/>
              </a:rPr>
              <a:t>3. Siapa memakai sistem (role) dan alur persetujuan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334155"/>
                </a:solidFill>
                <a:latin typeface="Calibri"/>
              </a:rPr>
              <a:t>4. Live demo: master → penerimaan → pengeluaran → laporan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334155"/>
                </a:solidFill>
                <a:latin typeface="Calibri"/>
              </a:rPr>
              <a:t>5. Fitur pendukung: transfer, biaya bank, rekonsiliasi, portal donatur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334155"/>
                </a:solidFill>
                <a:latin typeface="Calibri"/>
              </a:rPr>
              <a:t>6. FAQ &amp; langkah go-live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64748B"/>
                </a:solidFill>
                <a:latin typeface="Calibri"/>
              </a:rPr>
              <a:t>SIMA — Sistem Informasi Manajemen Amanah  ·  Demo produk  ·  2/13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D7A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0F2C4C"/>
                </a:solidFill>
                <a:latin typeface="Calibri"/>
              </a:rPr>
              <a:t>Masalah yang diselesaikan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97280"/>
            <a:ext cx="107899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0">
                <a:solidFill>
                  <a:srgbClr val="334155"/>
                </a:solidFill>
                <a:latin typeface="Calibri"/>
              </a:rPr>
              <a:t>Donasi masuk dengan niat tertentu (zakat, yatim, umum) — mudah tercampur di Excel/kas tunggal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334155"/>
                </a:solidFill>
                <a:latin typeface="Calibri"/>
              </a:rPr>
              <a:t>Pengeluaran sulit dibuktikan dari dana mana; sulit jawab auditor/donatur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334155"/>
                </a:solidFill>
                <a:latin typeface="Calibri"/>
              </a:rPr>
              <a:t>Saldo “kas” vs “peruntukan” sering tidak cocok; koreksi dengan edit/hapus baris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334155"/>
                </a:solidFill>
                <a:latin typeface="Calibri"/>
              </a:rPr>
              <a:t>Persetujuan ketua/verifikator tidak terdokumentasi rapi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334155"/>
                </a:solidFill>
                <a:latin typeface="Calibri"/>
              </a:rPr>
              <a:t>SIMA memaksa: uang masuk harus beralokasi; uang keluar harus dari dana yang tepat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64748B"/>
                </a:solidFill>
                <a:latin typeface="Calibri"/>
              </a:rPr>
              <a:t>SIMA — Sistem Informasi Manajemen Amanah  ·  Demo produk  ·  3/13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D7A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789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F2C4C"/>
                </a:solidFill>
                <a:latin typeface="Calibri"/>
              </a:rPr>
              <a:t>Dua dimensi uang (inti produk)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097280"/>
            <a:ext cx="5303520" cy="4754880"/>
          </a:xfrm>
          <a:prstGeom prst="round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280160"/>
            <a:ext cx="47548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0D7A6F"/>
                </a:solidFill>
                <a:latin typeface="Calibri"/>
              </a:rPr>
              <a:t>Kas / Bank — di mana uang berada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828800"/>
            <a:ext cx="475488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•  Kas tunai, rekening BCA, dll.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•  Saldo fisik yang bisa direkonsiliasi dengan rekening koran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•  Transfer antar rekening tidak mengubah Dana Amanah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097280"/>
            <a:ext cx="5303520" cy="4754880"/>
          </a:xfrm>
          <a:prstGeom prst="round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280160"/>
            <a:ext cx="47548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0D7A6F"/>
                </a:solidFill>
                <a:latin typeface="Calibri"/>
              </a:rPr>
              <a:t>Dana Amanah — untuk apa uang boleh dipakai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1828800"/>
            <a:ext cx="475488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•  Restricted: terikat niat (zakat, yatim, …)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•  Unrestricted: dana umum lembaga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•  Pengeluaran &amp; biaya bank harus ambil dari dana yang sesuai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64748B"/>
                </a:solidFill>
                <a:latin typeface="Calibri"/>
              </a:rPr>
              <a:t>SIMA — Sistem Informasi Manajemen Amanah  ·  Demo produk  ·  4/13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D7A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0F2C4C"/>
                </a:solidFill>
                <a:latin typeface="Calibri"/>
              </a:rPr>
              <a:t>Amanah Ledger = sumber kebenaran tunggal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97280"/>
            <a:ext cx="107899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0">
                <a:solidFill>
                  <a:srgbClr val="334155"/>
                </a:solidFill>
                <a:latin typeface="Calibri"/>
              </a:rPr>
              <a:t>Setiap transaksi finansial = jurnal double-entry (kas/bank ↔ dana)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334155"/>
                </a:solidFill>
                <a:latin typeface="Calibri"/>
              </a:rPr>
              <a:t>Saldo dihitung dari ledger — bukan angka yang diedit manual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334155"/>
                </a:solidFill>
                <a:latin typeface="Calibri"/>
              </a:rPr>
              <a:t>Tidak ada hard delete; koreksi hanya lewat void/reversal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334155"/>
                </a:solidFill>
                <a:latin typeface="Calibri"/>
              </a:rPr>
              <a:t>Total Kas/Bank harus = Total Dana Amanah (selisih = 0)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334155"/>
                </a:solidFill>
                <a:latin typeface="Calibri"/>
              </a:rPr>
              <a:t>Audit trail: siapa mengubah apa, kapan; approval tercatat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64748B"/>
                </a:solidFill>
                <a:latin typeface="Calibri"/>
              </a:rPr>
              <a:t>Invariant: saldo akun &amp; dana tidak boleh negatif.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64748B"/>
                </a:solidFill>
                <a:latin typeface="Calibri"/>
              </a:rPr>
              <a:t>SIMA — Sistem Informasi Manajemen Amanah  ·  Demo produk  ·  5/13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D7A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789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F2C4C"/>
                </a:solidFill>
                <a:latin typeface="Calibri"/>
              </a:rPr>
              <a:t>Alur uang singkat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097280"/>
          <a:ext cx="1106424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50292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Transaksi</a:t>
                      </a:r>
                    </a:p>
                  </a:txBody>
                  <a:tcPr>
                    <a:solidFill>
                      <a:srgbClr val="0F2C4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Efek Kas/Bank</a:t>
                      </a:r>
                    </a:p>
                  </a:txBody>
                  <a:tcPr>
                    <a:solidFill>
                      <a:srgbClr val="0F2C4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Efek Dana Amanah</a:t>
                      </a:r>
                    </a:p>
                  </a:txBody>
                  <a:tcPr>
                    <a:solidFill>
                      <a:srgbClr val="0F2C4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Penerimaan (disetujui)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Bertambah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Bertambah di dana tujuan (alokasi inline)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Pengeluaran (disetujui)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Berkurang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Berkurang dari sumber dana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Biaya bank (diposting)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Berkurang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Berkurang dari dana operasional (bukan restricted)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Transfer antar rekening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Pindah antar akun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Tidak berubah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Reversal / void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Negasi transaksi sumber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Negasi transaksi sumber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64748B"/>
                </a:solidFill>
                <a:latin typeface="Calibri"/>
              </a:rPr>
              <a:t>SIMA — Sistem Informasi Manajemen Amanah  ·  Demo produk  ·  6/13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D7A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789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F2C4C"/>
                </a:solidFill>
                <a:latin typeface="Calibri"/>
              </a:rPr>
              <a:t>Peran pengguna (RBAC)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097280"/>
          <a:ext cx="11064240" cy="3520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50292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Role</a:t>
                      </a:r>
                    </a:p>
                  </a:txBody>
                  <a:tcPr>
                    <a:solidFill>
                      <a:srgbClr val="0F2C4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Fokus di demo</a:t>
                      </a:r>
                    </a:p>
                  </a:txBody>
                  <a:tcPr>
                    <a:solidFill>
                      <a:srgbClr val="0F2C4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Contoh aksi</a:t>
                      </a:r>
                    </a:p>
                  </a:txBody>
                  <a:tcPr>
                    <a:solidFill>
                      <a:srgbClr val="0F2C4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Admin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Setup &amp; go-live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User, saldo awal, semua permission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Bendahara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Operasional harian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Master, draft/submit transaksi, biaya bank, transfer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Verifikator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Cek pengeluaran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Verify / reject pengeluaran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Ketua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Persetujuan akhir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Approve penerimaan &amp; pengeluaran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Auditor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Pengawasan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Laporan &amp; audit trail (view)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Donatur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Portal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Lihat ringkasan &amp; riwayat donasi sendiri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64748B"/>
                </a:solidFill>
                <a:latin typeface="Calibri"/>
              </a:rPr>
              <a:t>SIMA — Sistem Informasi Manajemen Amanah  ·  Demo produk  ·  7/13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D7A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0F2C4C"/>
                </a:solidFill>
                <a:latin typeface="Calibri"/>
              </a:rPr>
              <a:t>Script live demo (urutan disarankan)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97280"/>
            <a:ext cx="107899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0">
                <a:solidFill>
                  <a:srgbClr val="334155"/>
                </a:solidFill>
                <a:latin typeface="Calibri"/>
              </a:rPr>
              <a:t>Login bendahara → Dashboard (metric + chart real)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334155"/>
                </a:solidFill>
                <a:latin typeface="Calibri"/>
              </a:rPr>
              <a:t>Master: Donatur, Dana Amanah, Kas/Bank, Vendor, Event (jelaskan restricted)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334155"/>
                </a:solidFill>
                <a:latin typeface="Calibri"/>
              </a:rPr>
              <a:t>Penerimaan: buat + alokasi → submit → login ketua → approve → saldo berubah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334155"/>
                </a:solidFill>
                <a:latin typeface="Calibri"/>
              </a:rPr>
              <a:t>Pengeluaran: dari dana yang tepat + vendor → submit → verifikator → ketua approve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334155"/>
                </a:solidFill>
                <a:latin typeface="Calibri"/>
              </a:rPr>
              <a:t>Tunjukkan Approval queue, Laporan saldo, Rekonsiliasi global di dashboard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334155"/>
                </a:solidFill>
                <a:latin typeface="Calibri"/>
              </a:rPr>
              <a:t>Bonus: Transfer, Biaya bank, Portal donatur@sima.test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64748B"/>
                </a:solidFill>
                <a:latin typeface="Calibri"/>
              </a:rPr>
              <a:t>Akun demo: *@sima.test / password · isi data: php artisan sima:seed-demo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64748B"/>
                </a:solidFill>
                <a:latin typeface="Calibri"/>
              </a:rPr>
              <a:t>SIMA — Sistem Informasi Manajemen Amanah  ·  Demo produk  ·  8/13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D7A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0F2C4C"/>
                </a:solidFill>
                <a:latin typeface="Calibri"/>
              </a:rPr>
              <a:t>Modul yang siap didemokan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97280"/>
            <a:ext cx="107899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0">
                <a:solidFill>
                  <a:srgbClr val="334155"/>
                </a:solidFill>
                <a:latin typeface="Calibri"/>
              </a:rPr>
              <a:t>Master: Donatur, Vendor, Dana Amanah, Kas/Bank, Event/Program, Users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334155"/>
                </a:solidFill>
                <a:latin typeface="Calibri"/>
              </a:rPr>
              <a:t>Keuangan: Penerimaan, Pengeluaran, Biaya Bank, Transfer, Rekonsiliasi Bank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334155"/>
                </a:solidFill>
                <a:latin typeface="Calibri"/>
              </a:rPr>
              <a:t>Operasional: Liabilitas, Saldo Awal (go-live), Approval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334155"/>
                </a:solidFill>
                <a:latin typeface="Calibri"/>
              </a:rPr>
              <a:t>Laporan: Saldo akun/dana, buku besar, opening, dashboard analitik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334155"/>
                </a:solidFill>
                <a:latin typeface="Calibri"/>
              </a:rPr>
              <a:t>Portal Donatur: profil + riwayat donasi approved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334155"/>
                </a:solidFill>
                <a:latin typeface="Calibri"/>
              </a:rPr>
              <a:t>API + Swagger + Postman untuk integrasi / audit teknis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64748B"/>
                </a:solidFill>
                <a:latin typeface="Calibri"/>
              </a:rPr>
              <a:t>SIMA — Sistem Informasi Manajemen Amanah  ·  Demo produk  ·  9/13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D7A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0F2C4C"/>
                </a:solidFill>
                <a:latin typeface="Calibri"/>
              </a:rPr>
              <a:t>Keamanan &amp; kepatuhan (poin jual)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97280"/>
            <a:ext cx="107899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0">
                <a:solidFill>
                  <a:srgbClr val="334155"/>
                </a:solidFill>
                <a:latin typeface="Calibri"/>
              </a:rPr>
              <a:t>RBAC permission granular (Spatie) — menu &amp; API ikut permission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334155"/>
                </a:solidFill>
                <a:latin typeface="Calibri"/>
              </a:rPr>
              <a:t>Ledger immutable (guard model + trigger DB)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334155"/>
                </a:solidFill>
                <a:latin typeface="Calibri"/>
              </a:rPr>
              <a:t>Workflow approval multi-tahap untuk pengeluaran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334155"/>
                </a:solidFill>
                <a:latin typeface="Calibri"/>
              </a:rPr>
              <a:t>Idempotency &amp; nomor dokumen unik (RCP/DSB/FEE/…)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334155"/>
                </a:solidFill>
                <a:latin typeface="Calibri"/>
              </a:rPr>
              <a:t>Audit log + riwayat approval untuk auditor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334155"/>
                </a:solidFill>
                <a:latin typeface="Calibri"/>
              </a:rPr>
              <a:t>Rekonsiliasi: bukti selisih kas↔dana langsung di dashboard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64748B"/>
                </a:solidFill>
                <a:latin typeface="Calibri"/>
              </a:rPr>
              <a:t>SIMA — Sistem Informasi Manajemen Amanah  ·  Demo produk  ·  10/13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D7A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0F2C4C"/>
                </a:solidFill>
                <a:latin typeface="Calibri"/>
              </a:rPr>
              <a:t>Go-live singkat (pesan ke pimpinan)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97280"/>
            <a:ext cx="107899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0">
                <a:solidFill>
                  <a:srgbClr val="334155"/>
                </a:solidFill>
                <a:latin typeface="Calibri"/>
              </a:rPr>
              <a:t>Fase 0: sepakati daftar dana, rekening, pemetaan saldo awal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334155"/>
                </a:solidFill>
                <a:latin typeface="Calibri"/>
              </a:rPr>
              <a:t>Fase 1–3: user &amp; master data (admin + bendahara)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334155"/>
                </a:solidFill>
                <a:latin typeface="Calibri"/>
              </a:rPr>
              <a:t>Fase 4: posting saldo awal (admin) — cutover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334155"/>
                </a:solidFill>
                <a:latin typeface="Calibri"/>
              </a:rPr>
              <a:t>Fase 5: transaksi harian + approval ketua/verifikator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334155"/>
                </a:solidFill>
                <a:latin typeface="Calibri"/>
              </a:rPr>
              <a:t>Detail langkah: docs/PANDUAN-MULAI.md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334155"/>
                </a:solidFill>
                <a:latin typeface="Calibri"/>
              </a:rPr>
              <a:t>FAQ demo &amp; pertanyaan sulit: docs/demo/FAQ-DEMO.md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64748B"/>
                </a:solidFill>
                <a:latin typeface="Calibri"/>
              </a:rPr>
              <a:t>SIMA — Sistem Informasi Manajemen Amanah  ·  Demo produk  ·  11/13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D7A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0F2C4C"/>
                </a:solidFill>
                <a:latin typeface="Calibri"/>
              </a:rPr>
              <a:t>Ringkasan satu kalimat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97280"/>
            <a:ext cx="107899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0">
                <a:solidFill>
                  <a:srgbClr val="334155"/>
                </a:solidFill>
                <a:latin typeface="Calibri"/>
              </a:rPr>
              <a:t>SIMA memastikan dana titipan tetap amanah: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334155"/>
                </a:solidFill>
                <a:latin typeface="Calibri"/>
              </a:rPr>
              <a:t>uang punya tempat (kas/bank) dan punya tujuan (Dana Amanah),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334155"/>
                </a:solidFill>
                <a:latin typeface="Calibri"/>
              </a:rPr>
              <a:t>semua perubahan lewat ledger yang bisa diaudit,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334155"/>
                </a:solidFill>
                <a:latin typeface="Calibri"/>
              </a:rPr>
              <a:t>dan koreksi tidak pernah dengan menghapus sejarah.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64748B"/>
                </a:solidFill>
                <a:latin typeface="Calibri"/>
              </a:rPr>
              <a:t>SIMA — Sistem Informasi Manajemen Amanah  ·  Demo produk  ·  12/13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D7A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377440"/>
            <a:ext cx="10515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 b="1">
                <a:solidFill>
                  <a:srgbClr val="0F2C4C"/>
                </a:solidFill>
                <a:latin typeface="Calibri"/>
              </a:rPr>
              <a:t>Terima kasih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29184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334155"/>
                </a:solidFill>
                <a:latin typeface="Calibri"/>
              </a:rPr>
              <a:t>Siap tanya jawab. Buka FAQ-DEMO.md untuk jawaban siap pakai.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64748B"/>
                </a:solidFill>
                <a:latin typeface="Calibri"/>
              </a:rPr>
              <a:t>SIMA — Sistem Informasi Manajemen Amanah  ·  Demo produk  ·  13/13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