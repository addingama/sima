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dengan konteks lembaga: dana titipan, niat donatur, dan tanggung jawab ke publik. SIMA bukan sekadar aplikasi kas, melainkan sistem amanah.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Janji waktu. Jangan masuk detail teknis di awal kecuali audiens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Tanyakan ke audiens: bagaimana lembaga menjawab donatur yang ingin tahu apakah zakatnya tersalur sesuai niat.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slide yang harus diingat audiens. Berhenti sejenak.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Contoh: Rp10 juta di BCA bisa terdiri dari Rp6 juta zakat dan Rp4 juta dana umum. Lokasi sama, peruntukan berbeda.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Jangan jelaskan debit/credit teknis kecuali ditanya. Tekankan “tidak bisa dihapus diam-diam”.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Tekankan: asisten input, bendahara approve keuangan, ketua approve pimpinan. Jangan samakan bendahara dengan clerk.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demo: buat penerimaan, submit, approve, tunjukkan saldo berubah.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dengan bendahara. Tunjukkan saldo kas, saldo dana, dan badge Seimbang. Lalu bandingkan Zakat (restricted) dengan Dana Sosial Umum (unrestricted).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Tekankan: uang masuk wajib dialokasi. Approve baru mem-posting ledger. Contoh: donasi Budi, 10% operasional, sisanya Dana Sosial Umum.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Uang keluar harus dari dana yang sesuai. Verifikasi sebelum approve keuangan. Setelah posting, rekonsiliasi tetap Seimbang.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Tekankan: modul ini tidak mem-posting ledger sendiri. Uang keluar hanya lewat Pengeluaran SIMA. Satu pengeluaran per penerima.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Contoh Siti Aminah, santunan sakit tunai. Petugas → verifikasi → ketua approve → bendahara pengeluaran → foto handover.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Kelompok Air Bersih Desa Cibadak, target 120 jiwa, PIC Kepala Desa, satu pengeluaran, realisasi 118 orang. Bukan portal pemohon.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Login donatur@sima.test. Tunjukkan total donasi Budi Santoso dan riwayat RCP. Bukan seluruh kas lembaga.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Jika ditanya syariat: sistem membatasi secara teknis; keputusan niat tetap kebijakan lembaga.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Rujuk docs/PANDUAN-MULAI.md. Admin produksi: php artisan sima:create-admin.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Akun demo: *@sima.test / password. Data: php artisan sima:seed-demo. Jangan pakai akun demo di production. Video alur ada di slide 11–13, 15–16, dan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 konsep sebelum Q&amp;A. Jangan tambah fitur baru di slide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Tawarkan jadwal workshop Fase 0 jika audiens pimpinan siap.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4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PRESENTASI PRODUK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SIMA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Sistem Informasi Manajemen Amanah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Mengelola dana titipan lembaga sosial dengan dua dimensi yang selalu seimbang:</a:t>
            </a:r>
            <a:br/>
            <a:r>
              <a:t>di mana uang berada, dan untuk apa uang boleh dipakai.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996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Untuk pimpinan  ·  bendahara  ·  auditor  ·  tim implementasi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ALUR PRESENTASI 20–25 MENIT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09728" cy="841248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9903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A6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34416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Masalah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67335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Dana titipan mudah tercampur dan sulit diaudit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109728" cy="841248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5915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A6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30428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Konsep inti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63347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Kas/Bank, Dana Amanah, dan Amanah Ledger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54680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154680"/>
            <a:ext cx="109728" cy="841248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192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A6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26440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Kendali organisasi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59359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Peran, approval, dan jejak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14800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109728" cy="841248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7939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A6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22452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Operasional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55371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Keuangan harian, bantuan, laporan, portal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74920"/>
            <a:ext cx="110642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074920"/>
            <a:ext cx="109728" cy="841248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23951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A6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518464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Siap pakai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513832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Keamanan, go-live, dan tanya jawab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02  / 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MENGAPA EXCEL DAN BUKU KAS BIASA TIDAK CUKUP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Masalah yang diselesaikan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440680" cy="9144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Tercampur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800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Donasi zakat, yatim, dan dana umum masuk ke satu kas. Niat donatur mudah hilang.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5440680" cy="914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0020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Sulit dibuktikan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48840"/>
            <a:ext cx="4800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Pengeluaran sulit ditunjukkan dari dana mana. Auditor dan donatur sulit dijawab.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79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79"/>
            <a:ext cx="5440680" cy="9144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31919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Saldo tidak cocok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80559"/>
            <a:ext cx="4800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Angka kas dan peruntukan sering drift. Koreksi dilakukan dengan edit atau hapus baris.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611879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611879"/>
            <a:ext cx="5440680" cy="914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931919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Tidak terdokumentasi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480559"/>
            <a:ext cx="4800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Persetujuan ketua/verifikator ada di chat atau kertas, bukan di sistem.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03  / 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JANJI PRODUK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Setiap uang masuk punya tujuan.</a:t>
            </a:r>
            <a:br/>
            <a:r>
              <a:t>Setiap uang keluar mengambil dari dana yang sesuai.</a:t>
            </a:r>
            <a:br/>
            <a:r>
              <a:t>Setiap perubahan meninggalkan jejak yang bisa diaudit.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SIMA tidak hanya mencatat angka. SIMA menjaga aturan amanah.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INTI PRODUK — SATU UANG SELALU PUNYA KEDUANYA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Dua dimensi uang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49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349240" cy="6583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Kas / 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•  Di mana uang berada secara fisik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•  Kas kantor, rekening BCA, e-wallet lembaga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3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•  Bisa dicocokkan dengan rekening koran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2627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•  Transfer antar rekening tidak mengubah peruntukan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80160"/>
            <a:ext cx="5349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80160"/>
            <a:ext cx="5349240" cy="658368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Dana Amanah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945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•  Untuk apa uang boleh dipakai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71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•  Restricted: terikat niat donatur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74903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•  Unrestricted: dana umum lembaga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52627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•  Pengeluaran dan biaya bank harus dari dana yang sah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05  / 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BATASAN PENGGUNAAN, BUKAN SEKADAR LABEL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Jenis Dana Amanah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Jenis</a:t>
                      </a:r>
                    </a:p>
                  </a:txBody>
                  <a:tcPr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  <a:prstDash val="solid"/>
                    </a:lnL>
                    <a:lnR w="6350" cap="flat" cmpd="sng" algn="ctr">
                      <a:solidFill>
                        <a:srgbClr val="0B1F3A"/>
                      </a:solidFill>
                      <a:prstDash val="solid"/>
                    </a:lnR>
                    <a:lnT w="6350" cap="flat" cmpd="sng" algn="ctr">
                      <a:solidFill>
                        <a:srgbClr val="0B1F3A"/>
                      </a:solidFill>
                      <a:prstDash val="solid"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Arti</a:t>
                      </a:r>
                    </a:p>
                  </a:txBody>
                  <a:tcPr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  <a:prstDash val="solid"/>
                    </a:lnL>
                    <a:lnR w="6350" cap="flat" cmpd="sng" algn="ctr">
                      <a:solidFill>
                        <a:srgbClr val="0B1F3A"/>
                      </a:solidFill>
                      <a:prstDash val="solid"/>
                    </a:lnR>
                    <a:lnT w="6350" cap="flat" cmpd="sng" algn="ctr">
                      <a:solidFill>
                        <a:srgbClr val="0B1F3A"/>
                      </a:solidFill>
                      <a:prstDash val="solid"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Contoh</a:t>
                      </a:r>
                    </a:p>
                  </a:txBody>
                  <a:tcPr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  <a:prstDash val="solid"/>
                    </a:lnL>
                    <a:lnR w="6350" cap="flat" cmpd="sng" algn="ctr">
                      <a:solidFill>
                        <a:srgbClr val="0B1F3A"/>
                      </a:solidFill>
                      <a:prstDash val="solid"/>
                    </a:lnR>
                    <a:lnT w="6350" cap="flat" cmpd="sng" algn="ctr">
                      <a:solidFill>
                        <a:srgbClr val="0B1F3A"/>
                      </a:solidFill>
                      <a:prstDash val="solid"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Biaya bank</a:t>
                      </a:r>
                    </a:p>
                  </a:txBody>
                  <a:tcPr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  <a:prstDash val="solid"/>
                    </a:lnL>
                    <a:lnR w="6350" cap="flat" cmpd="sng" algn="ctr">
                      <a:solidFill>
                        <a:srgbClr val="0B1F3A"/>
                      </a:solidFill>
                      <a:prstDash val="solid"/>
                    </a:lnR>
                    <a:lnT w="6350" cap="flat" cmpd="sng" algn="ctr">
                      <a:solidFill>
                        <a:srgbClr val="0B1F3A"/>
                      </a:solidFill>
                      <a:prstDash val="solid"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Restricted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Terikat niat / peruntukan donatur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Zakat, infaq yatim, program tertentu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Tidak boleh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Unrestricted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Dana umum lembaga, lebih fleksibel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Dana sosial umum, operasional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Boleh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520440"/>
            <a:ext cx="110642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49039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Aturan yang dijaga sistem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•  Dana baru yang dibuat bendahara default-nya restricted — lebih aman.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•  Biaya administrasi bank hanya boleh dibebankan ke dana unrestricted, biasanya Dana Operasional.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•  Event/Program boleh dipakai untuk pelacakan kegiatan, tetapi bukan pengganti Dana Amanah.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06  / 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SATU BUKU BESAR IMMUTABLE SEBAGAI SUMBER KEBENARAN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Amanah Ledger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26974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2697480" cy="9144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7A6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Double-entry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Setiap transaksi menghasilkan pasangan jurnal: kas/bank dan Dana Amanah.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280160"/>
            <a:ext cx="26974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280160"/>
            <a:ext cx="2697480" cy="9144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7A6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0574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Saldo dihitung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8803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Tidak ada kolom saldo yang diedit manual. Saldo selalu agregasi dari ledger.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280160"/>
            <a:ext cx="26974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80160"/>
            <a:ext cx="2697480" cy="9144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7A6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574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Tidak dihapus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803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Koreksi hanya melalui void/reversal. Sejarah tetap utuh.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280160"/>
            <a:ext cx="26974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280160"/>
            <a:ext cx="2697480" cy="9144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7A6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0574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Harus seimbang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88036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Total kas/bank = total Dana Amanah. Selisih harus nol.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Invariant operasional: saldo akun dan saldo dana tidak boleh negatif. Jika dashboard menampilkan “Seimbang”, buku besar dan peruntukan sedang konsisten.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07  / 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APA YANG TERJADI SETELAH TRANSAKSI DISETUJUI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Alur uang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Transaksi</a:t>
                      </a:r>
                    </a:p>
                  </a:txBody>
                  <a:tcPr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  <a:prstDash val="solid"/>
                    </a:lnL>
                    <a:lnR w="6350" cap="flat" cmpd="sng" algn="ctr">
                      <a:solidFill>
                        <a:srgbClr val="0B1F3A"/>
                      </a:solidFill>
                      <a:prstDash val="solid"/>
                    </a:lnR>
                    <a:lnT w="6350" cap="flat" cmpd="sng" algn="ctr">
                      <a:solidFill>
                        <a:srgbClr val="0B1F3A"/>
                      </a:solidFill>
                      <a:prstDash val="solid"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Efek Kas / Bank</a:t>
                      </a:r>
                    </a:p>
                  </a:txBody>
                  <a:tcPr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  <a:prstDash val="solid"/>
                    </a:lnL>
                    <a:lnR w="6350" cap="flat" cmpd="sng" algn="ctr">
                      <a:solidFill>
                        <a:srgbClr val="0B1F3A"/>
                      </a:solidFill>
                      <a:prstDash val="solid"/>
                    </a:lnR>
                    <a:lnT w="6350" cap="flat" cmpd="sng" algn="ctr">
                      <a:solidFill>
                        <a:srgbClr val="0B1F3A"/>
                      </a:solidFill>
                      <a:prstDash val="solid"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Efek Dana Amanah</a:t>
                      </a:r>
                    </a:p>
                  </a:txBody>
                  <a:tcPr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  <a:prstDash val="solid"/>
                    </a:lnL>
                    <a:lnR w="6350" cap="flat" cmpd="sng" algn="ctr">
                      <a:solidFill>
                        <a:srgbClr val="0B1F3A"/>
                      </a:solidFill>
                      <a:prstDash val="solid"/>
                    </a:lnR>
                    <a:lnT w="6350" cap="flat" cmpd="sng" algn="ctr">
                      <a:solidFill>
                        <a:srgbClr val="0B1F3A"/>
                      </a:solidFill>
                      <a:prstDash val="solid"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Penerimaan disetujui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Bertambah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Bertambah di dana tujuan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Pengeluaran disetujui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Berkurang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Berkurang dari sumber dana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Biaya bank diposting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Berkurang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Berkurang dari dana operasional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Transfer antar rekening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Pindah antar akun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Tidak berubah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Reversal / void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Negasi transaksi sumber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3A4A"/>
                          </a:solidFill>
                          <a:latin typeface="Calibri"/>
                        </a:rPr>
                        <a:t>Negasi transaksi sumber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Draft dan submitted belum mengubah saldo. Hanya approval / posting yang masuk ledger.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08  / 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PEMISAHAN TUGAS YANG JELAS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Siapa memakai sistem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642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Peran</a:t>
                      </a:r>
                    </a:p>
                  </a:txBody>
                  <a:tcPr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  <a:prstDash val="solid"/>
                    </a:lnL>
                    <a:lnR w="6350" cap="flat" cmpd="sng" algn="ctr">
                      <a:solidFill>
                        <a:srgbClr val="0B1F3A"/>
                      </a:solidFill>
                      <a:prstDash val="solid"/>
                    </a:lnR>
                    <a:lnT w="6350" cap="flat" cmpd="sng" algn="ctr">
                      <a:solidFill>
                        <a:srgbClr val="0B1F3A"/>
                      </a:solidFill>
                      <a:prstDash val="solid"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Tanggung jawab</a:t>
                      </a:r>
                    </a:p>
                  </a:txBody>
                  <a:tcPr>
                    <a:solidFill>
                      <a:srgbClr val="0B1F3A"/>
                    </a:solidFill>
                    <a:lnL w="6350" cap="flat" cmpd="sng" algn="ctr">
                      <a:solidFill>
                        <a:srgbClr val="0B1F3A"/>
                      </a:solidFill>
                      <a:prstDash val="solid"/>
                    </a:lnL>
                    <a:lnR w="6350" cap="flat" cmpd="sng" algn="ctr">
                      <a:solidFill>
                        <a:srgbClr val="0B1F3A"/>
                      </a:solidFill>
                      <a:prstDash val="solid"/>
                    </a:lnR>
                    <a:lnT w="6350" cap="flat" cmpd="sng" algn="ctr">
                      <a:solidFill>
                        <a:srgbClr val="0B1F3A"/>
                      </a:solidFill>
                      <a:prstDash val="solid"/>
                    </a:lnT>
                    <a:lnB w="6350" cap="flat" cmpd="sng" algn="ctr">
                      <a:solidFill>
                        <a:srgbClr val="0B1F3A"/>
                      </a:solidFill>
                      <a:prstDash val="soli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Instalasi, pengguna, saldo awal, izin penuh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Asisten bendahara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Input master dan transaksi harian; submit; tidak approve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Bendahara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Approver keuangan: setujui, tolak, dan reverse penerimaan/pengeluaran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Verifikator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Verifikasi kelengkapan pengeluaran dan data bantuan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Petugas bantuan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Rekomendasi lapangan, verifikasi data, serah terima bantuan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Ketua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Persetujuan pimpinan / eskalasi, termasuk pengajuan bantuan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Auditor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Laporan, audit trail, dan pengawasan tanpa mengubah transaksi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Donatur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D3A4A"/>
                          </a:solidFill>
                          <a:latin typeface="Calibri"/>
                        </a:rPr>
                        <a:t>Portal: melihat donasi approved miliknya sendiri</a:t>
                      </a:r>
                    </a:p>
                  </a:txBody>
                  <a:tcPr>
                    <a:solidFill>
                      <a:srgbClr val="EEF3F6"/>
                    </a:solidFill>
                    <a:lnL w="6350" cap="flat" cmpd="sng" algn="ctr">
                      <a:solidFill>
                        <a:srgbClr val="D6DEE6"/>
                      </a:solidFill>
                      <a:prstDash val="soli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09  / 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TIDAK ADA JALAN PINTAS KE BUKU BESAR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Alur keuangan harian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611880" cy="64008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89888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Penerimaan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1.  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2.  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3.  Approve = posting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4.  Atau ditolak / di-reverse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28016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280160"/>
            <a:ext cx="3611880" cy="64008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389888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Pengeluaran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19456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1.  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01752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2.  Submit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84048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3.  Verifikasi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66344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4.  Approve = posting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28016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280160"/>
            <a:ext cx="3611880" cy="64008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389888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Kontrol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19456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1.  Saldo dana cukup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01752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2.  Saldo kas cukup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84048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3.  Sumber dana sesuai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663440"/>
            <a:ext cx="3063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A4A"/>
                </a:solidFill>
                <a:latin typeface="Calibri"/>
              </a:rPr>
              <a:t>4.  Nomor dokumen unik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10  / 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REKAMAN PLAYWRIGHT — REKONSILIASI SEIMBANG, RESTRICTED VS UNRESTRICTED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Demo: dashboard dan Dana Amanah</a:t>
            </a:r>
          </a:p>
        </p:txBody>
      </p:sp>
      <p:pic>
        <p:nvPicPr>
          <p:cNvPr id="7" name="dashboard-dan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80160" y="1170432"/>
            <a:ext cx="962863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11  /  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ASISTEN INPUT + ALOKASI NIAT → KETUA APPROVE = JURNAL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Demo: penerimaan sampai posting</a:t>
            </a:r>
          </a:p>
        </p:txBody>
      </p:sp>
      <p:pic>
        <p:nvPicPr>
          <p:cNvPr id="7" name="penerimaa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80160" y="1170432"/>
            <a:ext cx="962863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12  /  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ASISTEN DRAFT → VERIFIKATOR → BENDAHARA APPROVE, SALDO TURUN, BUKU TETAP SEIMBANG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Demo: pengeluaran sampai posting</a:t>
            </a:r>
          </a:p>
        </p:txBody>
      </p:sp>
      <p:pic>
        <p:nvPicPr>
          <p:cNvPr id="7" name="pengeluara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80160" y="1170432"/>
            <a:ext cx="962863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13  /  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KASUS LAPANGAN, TERPISAH DARI JURNAL, TETAP TERTIB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Pengajuan bantuan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234440" cy="105156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80744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Rekomendasi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73736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Petugas memasukkan data penerima dari rekomendasi orang, bukan portal pemohon.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2316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1234440" cy="105156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4320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569464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Verifikasi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92608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Verifikator assigned melengkapi data, lampiran, dan rekening bila perlu.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1188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11880"/>
            <a:ext cx="1234440" cy="105156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758184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Persetujuan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11480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Ketua memutuskan. Setelah disetujui, bendahara membuat satu pengeluaran.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1234440" cy="105156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206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946904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Serah terima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30352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Selesai hanya jika pengeluaran approved dan ada bukti foto/transfer.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14  / 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REKAMAN PLAYWRIGHT — REKOMENDASI SAMPAI SELESAI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Demo: bantuan perorangan</a:t>
            </a:r>
          </a:p>
        </p:txBody>
      </p:sp>
      <p:pic>
        <p:nvPicPr>
          <p:cNvPr id="7" name="pengajuan-bantua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80160" y="1170432"/>
            <a:ext cx="962863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15  /  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CONTOH AIR BERSIH DESA — KOLEKTIF SAMPAI REALISASI ORANG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Demo: bantuan instansi / kelompok</a:t>
            </a:r>
          </a:p>
        </p:txBody>
      </p:sp>
      <p:pic>
        <p:nvPicPr>
          <p:cNvPr id="7" name="pengajuan-bantuan-instansi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80160" y="1170432"/>
            <a:ext cx="962863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16  /  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MUDAH DISARING, MUDAH DIJELASKAN, BISA DIEKSPOR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Laporan yang dipakai organisasi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Keuangan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Saldo Dana Amanah, saldo kas/bank, buku kas, buku bank, ledger, per program, per donatur, per vendor.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Pengawasan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Approval, saldo awal go-live, audit trail, rekonsiliasi global “Seimbang” di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11879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86199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Bantuan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34839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Jumlah kartu, antrian, usulan, disetujui, siap diserahkan, sudah diserahkan, ditolak.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611879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886199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Portal donatur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434839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Donatur hanya melihat penerimaan approved miliknya. Bukan seluruh kas lembaga.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17  / 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DONATUR HANYA MELIHAT PENERIMAAN APPROVED MILIKNYA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Demo: portal donatur</a:t>
            </a:r>
          </a:p>
        </p:txBody>
      </p:sp>
      <p:pic>
        <p:nvPicPr>
          <p:cNvPr id="7" name="portal-donatu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80160" y="1170432"/>
            <a:ext cx="962863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18  /  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BUKAN PROTOTIPE — ALUR UTAMA SUDAH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Modul yang siap dipakai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2724912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2724912" cy="109728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Master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Donatur, vendor, Dana Amanah, kas/bank, event/program, pengguna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25880"/>
            <a:ext cx="2724912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325880"/>
            <a:ext cx="2724912" cy="10972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169164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Keuangan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Penerimaan, pengeluaran, biaya bank, transfer, rekonsiliasi, liabilitas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325880"/>
            <a:ext cx="2724912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1325880"/>
            <a:ext cx="2724912" cy="109728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7" y="169164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Kendali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Approval, saldo awal, reversal, audit trail, RBAC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19" y="1325880"/>
            <a:ext cx="2724912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19" y="1325880"/>
            <a:ext cx="2724912" cy="10972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7" y="169164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Layanan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7" y="260604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Kanban bantuan, laporan bantuan, portal donatur, API/Swagger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19  / 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KONTROL YANG BISA DITUNJUKKAN KE AUDITOR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Keamanan dan kepatuhan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990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Hak akses granular: menu dan API mengikuti permission, bukan sekadar nama role.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Ledger append-only: model dan trigger database menolak penghapusan jurnal.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535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Transaksi approved tidak bisa diedit langsung; koreksi wajib lewat reversal beralasan.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307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Nomor dokumen unik dan idempotency mencegah double-posting.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34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0799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Audit trail mencatat siapa melakukan apa dan kapan.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852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Rekonsiliasi kas↔dana dan rekonsiliasi bank memberi bukti keseimbangan, bukan mengubah buku.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20  / 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CUKUP UNTUK PIMPINAN IT, TANPA JARGON BERLEBIH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Fondasi teknis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724912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Aplikasi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2316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Backend Laravel 11 + MySQL</a:t>
            </a:r>
            <a:br/>
            <a:r>
              <a:t>Frontend Next.js + TypeScript</a:t>
            </a:r>
            <a:br/>
            <a:r>
              <a:t>Auth Sanctum + RBAC Spatie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724912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645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Integritas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42316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Domain service, Form Request,</a:t>
            </a:r>
            <a:br/>
            <a:r>
              <a:t>Policy, transaksi database,</a:t>
            </a:r>
            <a:br/>
            <a:r>
              <a:t>operasi uang dengan bcmath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371600"/>
            <a:ext cx="2724912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7" y="1645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Operasi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7" y="242316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Docker production, backup,</a:t>
            </a:r>
            <a:br/>
            <a:r>
              <a:t>health check, OpenAPI/Swagger,</a:t>
            </a:r>
            <a:br/>
            <a:r>
              <a:t>koleksi Postman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1371600"/>
            <a:ext cx="2724912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0887" y="1645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Kualitas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7" y="242316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A4A"/>
                </a:solidFill>
                <a:latin typeface="Calibri"/>
              </a:rPr>
              <a:t>PHPUnit untuk API/domain</a:t>
            </a:r>
            <a:br/>
            <a:r>
              <a:t>Vitest untuk komponen UI</a:t>
            </a:r>
            <a:br/>
            <a:r>
              <a:t>Playwright untuk alur 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21  / 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WAKTU TERBESAR BIASANYA KESEPAKATAN ORGANISASI, BUKAN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Jalan menuju go-live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Fase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Sepakati dana, rekening, dan worksheet saldo awal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00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Fase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Instalasi, pengguna, dan role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Fase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Master Dana Amanah, kas/bank, donatur, vendor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319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Fase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Posting saldo awal oleh admin — cutover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6576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9319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Fase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52628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Verifikasi laporan dan rekonsiliasi “Seimbang”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6576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9319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6F"/>
                </a:solidFill>
                <a:latin typeface="Calibri"/>
              </a:rPr>
              <a:t>Fase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52628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Transaksi harian, approval, dan pengajuan bantuan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22  / 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15 MENIT DI LAYAR, SISANYA TANYA JAWAB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Urutan demo yang disarankan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777240" cy="6858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990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39903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Login bendahara — dashboard metric dan rekonsiliasi 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011680"/>
            <a:ext cx="777240" cy="6858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762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17627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Tunjukkan Dana Amanah restricted vs unrestricted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889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777240" cy="6858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953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95351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Penerimaan + alokasi → submit → approve → saldo naik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661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66160"/>
            <a:ext cx="777240" cy="6858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730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73075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Pengeluaran dari dana yang tepat → verifikasi → approve → saldo turun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434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343400"/>
            <a:ext cx="777240" cy="6858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5079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50799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Kanban bantuan: rekomendasi → verifikasi → approval → serah terima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120640"/>
            <a:ext cx="777240" cy="6858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285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285232"/>
            <a:ext cx="9692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Laporan bantuan dan portal donatur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23  / 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7A6F"/>
                </a:solidFill>
                <a:latin typeface="Calibri"/>
              </a:rPr>
              <a:t>SIAP DIUCAPKAN DI DEPAN PIMPINAN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Jawaban untuk pertanyaan sulit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Apa bedanya dengan Excel?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Excel mencatat angka. SIMA menjaga aturan: dana tidak keluar dari peruntukan yang salah, dan sejarah tidak bisa dihapus diam-diam.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6304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Apakah ini menjamin syariat 100%?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4884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Sistem membatasi secara teknis. Keputusan niat dan program tetap kebijakan lembaga — SIMA membuat kebijakan itu bisa diaudit.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1188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Kalau bendahara salah input?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2628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Sebelum approve bisa dikoreksi atau ditolak. Sesudah approve, pakai reverse beralasan. Jejak tetap 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61188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84048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Berapa lama implementasi?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52628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3A4A"/>
                </a:solidFill>
                <a:latin typeface="Calibri"/>
              </a:rPr>
              <a:t>Setelah master dan saldo awal siap, transaksi harian bisa langsung. Waktu terbesar: sepakati daftar dana dan worksheet opening.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24  / 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A35A"/>
                </a:solidFill>
                <a:latin typeface="Calibri"/>
              </a:rPr>
              <a:t>RINGKASAN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SIMA memastikan dana titipan tetap amanah:</a:t>
            </a:r>
            <a:br/>
            <a:r>
              <a:t>uang punya tempat, uang punya tujuan,</a:t>
            </a:r>
            <a:br/>
            <a:r>
              <a:t>semua perubahan lewat ledger yang bisa diaudit,</a:t>
            </a:r>
            <a:br/>
            <a:r>
              <a:t>dan koreksi tidak pernah dengan menghapus sejarah.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1F3A"/>
                </a:solidFill>
                <a:latin typeface="Calibri"/>
              </a:rPr>
              <a:t>Terima kasih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3A4A"/>
                </a:solidFill>
                <a:latin typeface="Calibri"/>
              </a:rPr>
              <a:t>Siap tanya jawab.</a:t>
            </a:r>
            <a:br/>
            <a:r>
              <a:t>Panduan go-live: docs/PANDUAN-MULAI.md  ·  FAQ presenter: docs/demo/FAQ-DEMO.md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006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A4A"/>
                </a:solidFill>
                <a:latin typeface="Calibri"/>
              </a:rPr>
              <a:t>Langkah berikutnya yang kami sarankan: rapat Fase 0 — tetapkan daftar Dana Amanah, rekening kas/bank, dan worksheet saldo awal.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SIMA  ·  Sistem Informasi Manajemen Amanah  ·  Presentasi produk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739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26  / 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